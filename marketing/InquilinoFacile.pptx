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D399"/>
    <a:srgbClr val="A78BFA"/>
    <a:srgbClr val="60A5FA"/>
    <a:srgbClr val="696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5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53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forte (10 sec). Salutate il comitato, chiamate il prodotto per nome, e fissate la promessa: l'affitto in Italia smette di essere una lotteria. Tono confidente. Non leggere la slide: lasciate respirare l'headline.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Mercato (45 sec). Dati Sole 24 Ore (mar 2026): 1,33 milioni di nuovi contratti, 50 miliardi di canoni l'anno, 8 milioni di famiglie. Mercato in crescita +5,15% nel 2025, previsto +4% nel 2026. La finestra e ora: AI Act + domanda esplosiva.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(45 sec). Il dolore è enorme e documentato: dati di idealista.it (dic 2025) incrociati con AGI, Sicet-Cisl/Min. Interno e Istat. 62% delle famiglie in ritardo, 40 mila sfratti l'anno, +10% YoY. Il locatore oggi gioca alla cieca.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(30 sec). InquilinoFacile inverte il mercato: trasforma la candidatura in un profilo verificato e da al locatore lo stesso diritto di scelta. Doppio match, come Tinder ma con dati oggettivi e compliance built-in.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Soluzione (45 sec). Tre pilastri, una sola architettura: l'AI fa il lavoro pesante, l'umano resta in controllo. Spiegabili e anti-discriminatori - differenza tra prodotto enterprise-ready e giocattolo.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Prodotto (45 sec). Flusso end-to-end + formula di scoring trasparente. 4 indicatori categoriali, ognuno calcolato con dati oggettivi e verificabili. Niente algoritmi opachi: ogni HIGH/MEDIUM/LOW e spiegabile, conforme AI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(40 sec). Inquilino e locatore restano gratis - acquisition. Servizi premium opzionali per privati (visibilità, profilazione prioritaria, più foto). Le agenzie sono il revenue core: pagano per profilare clienti, ottenere lead per zona e pubblicare annunci illimitati. ARPU agenzia 10x rispetto al privato medio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Competizione (30 sec). AffittoChiaro.it e' il concorrente piu' diretto, ma e' un form statico senza AI e senza privacy garantita. Noi siamo l'unico player AI-native, GDPR/AI Act-ready, con scoring spiegabile e match doppio. Il moat e' l'AI italiana + il dataset di affidabilità che cresce con ogni profilo verificato.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36B6-7D48-5637-E3AE-3A8E18D7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0175D-05BC-DC69-37F8-C74BA8122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7DC30-2CAB-E8E8-89D7-75B59A420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Competizione (30 sec). AffittoChiaro.it e' il concorrente piu' diretto, ma e' un form statico senza AI e senza privacy garantita. Noi siamo l'unico player AI-native, GDPR/AI Act-ready, con scoring spiegabile e match doppio. Il moat e' l'AI italiana + il dataset di affidabilità che cresce con ogni profilo verificato.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9FB24-3144-37AC-BC3C-9A5433AB8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0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(30 sec). Italia testa di ponte. Tra 3 anni vogliamo essere lo standard europeo di affidabilità inquilino - il SCHUFA del rent, ma spiegabile e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(40 sec). Round leggero, 50-100K. L'obiettivo non e' la grandezza ma la qualità: validare l'idea, affinare l'MVP e costruire brand. Siamo aperti a scambio in servizi: pubblicità, partnership, mentorship, network. Non cerchiamo solo capitale - cerchiamo accelerazione di visione.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(30 sec). 3 secondi di silenzio dopo 'Grazie'. Bookend con il claim del cover. Invito chiaro: non chiediamo solo soldi, chiediamo di costruire un'infrastruttura insieme.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8680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68680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68680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68680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868680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09828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09828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909828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909828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909828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950976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950976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950976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950976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50976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992124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92124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992124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92124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2124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33272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033272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1033272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1033272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033272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074420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1074420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1074420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1074420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1074420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1115568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1115568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1115568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1115568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1115568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1156716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11567160" y="7772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11567160" y="11887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11567160" y="16002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11567160" y="201168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12700">
            <a:solidFill>
              <a:srgbClr val="2563EB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400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371600" y="594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755380" y="126387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TENANT VERIFICATION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" y="26060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Affittare in Italia
non sarà mai più </a:t>
            </a: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terno al lotto.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640080" y="5074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</a:t>
            </a:r>
            <a:r>
              <a:rPr lang="en-US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connette locatori e inquilini attraverso profili verificati, documenti autentici e valutazioni trasparenti. Zero sorprese, solo scelte consapevoli.</a:t>
            </a:r>
            <a:endParaRPr lang="en-US" dirty="0">
              <a:solidFill>
                <a:srgbClr val="C7D2F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40080" y="6126480"/>
            <a:ext cx="109728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640080" y="6199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- Pre-Seed 2026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69680" y="6199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1100" dirty="0"/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B672F5D9-B69D-0E3B-CE3C-77B9ABDDE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3" y="593421"/>
            <a:ext cx="601513" cy="601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&amp;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L'affitto in Italia è diventato un'industria da 50 miliardi.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contratti d'affitto stipulati nel 2025 - record storico.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€ 50B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annuo dei canoni di locazione in Italia.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famiglie in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affitto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frammentato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non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219456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+5,15%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canoni 2025 - prevista +4% anche nel 2026.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 MEDI ANNUI / mq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7365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Milano € 200</a:t>
            </a: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Roma € 155  -  Bologna € 140  -  Napoli € 120  -  Genova € 115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Milano: 40% delle famiglie vive in affitto. Torino: 35%.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4343400"/>
            <a:ext cx="356616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27532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esplosiva, offerta frammentata, AI Act in vigore, GDPR maturo. La finestra e ora.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Il Sole 24 Ore - Scenari Immobiliari &amp; Abitare Co., "La casa in locazione" (mar 2026).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 </a:t>
            </a: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dell'affitto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5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rotto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Italia la morosità è la norma, non l'eccezione - e nessuno sa misurarla prima di firmare.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Famiglie in ritardo con l'affitto in Italia.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365760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47472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70332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Sfratti convalidati ogni anno (2021-2024).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53796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 di sfratto YoY 2023 -&gt; 2024.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365760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14400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37260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Inquilini che lasciano senza saldare i debiti.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idealista.it (dic 2025) - AGI 2024 - Sicet-Cisl / Min. Interno 2021-2024 - Istat 2024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 dell'affitto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contrario</a:t>
            </a: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8706" y="28449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l'inquilino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casa.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immobiliari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subiscono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carichi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inutile. I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locatari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fidano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prima </a:t>
            </a: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impressione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5394960" cy="260604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- MERCATO ROTTO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L'inquilino sceglie. Il </a:t>
            </a:r>
            <a:r>
              <a:rPr lang="en-US" sz="17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locatore</a:t>
            </a: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</a:t>
            </a: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5262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costretto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concorrere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primo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l’immobile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prima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offerta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centinaia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locatari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esaminare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profilare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feeling, fortuna, prima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pregiudizio</a:t>
            </a:r>
            <a:endParaRPr lang="en-US" sz="1200" b="1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morosità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sfratti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contenziosi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520440"/>
            <a:ext cx="5394960" cy="2606040"/>
          </a:xfrm>
          <a:prstGeom prst="roundRect">
            <a:avLst>
              <a:gd name="adj" fmla="val 7018"/>
            </a:avLst>
          </a:prstGeom>
          <a:solidFill>
            <a:srgbClr val="0B1437"/>
          </a:solidFill>
          <a:ln w="12700">
            <a:solidFill>
              <a:srgbClr val="7C3AED"/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309360" y="3520440"/>
            <a:ext cx="5394960" cy="2606040"/>
          </a:xfrm>
          <a:prstGeom prst="roundRect">
            <a:avLst>
              <a:gd name="adj" fmla="val 7018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6294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 - MERCATO INVERTITO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il locatore sceglie.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45262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matchano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filtra,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giusto</a:t>
            </a: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pesante di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esaminazione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oggettivi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 bias, non feeling, non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pregiudizi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match doppio,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 agent che intervista,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 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</a:t>
            </a: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l'inquilino.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0120" y="361188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conversazionale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18-step wizard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guidato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AI agent.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L'inquilino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strutturati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09160" y="361188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0916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documentale AI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49834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buste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dichiarazioni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OCR + parsing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Ogni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etichettato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dichiarato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291840"/>
            <a:ext cx="35204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458200" y="361188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45820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5820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categoriale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49834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HIGH / MEDIUM / LOW su sostenibilità canone, stabilità reddito, affidabilità documenti. Spiegabili. Anti-discriminatori.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primo messaggio al match: 15 minuti.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 OAuth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(Google, FB, LinkedIn).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26060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step adattivi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228600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532120" y="260604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5321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verifica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 GPT-4o.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228600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7818120" y="260604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Profile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HIGH/MED/LOW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completion %.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84080" y="2286000"/>
            <a:ext cx="2103120" cy="2286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0104120" y="26060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1041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6696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6696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appartamenti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piacciono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scelgono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piacciono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loro.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937760"/>
            <a:ext cx="11018520" cy="1325880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CALCOLIAMO LO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5071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Sostenibilità canone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5669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/ reddito netto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11880" y="55071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Stabilità reddito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11880" y="5669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contratto x anzianità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55071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Affidabilità documenti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5669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 / richiesti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06840" y="55071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 profilo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06840" y="5669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completati / 18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EFEF2AAC-DA57-08DF-528E-2C936863C0BC}"/>
              </a:ext>
            </a:extLst>
          </p:cNvPr>
          <p:cNvSpPr/>
          <p:nvPr/>
        </p:nvSpPr>
        <p:spPr>
          <a:xfrm>
            <a:off x="26974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E8559D43-60D0-CE1A-0521-675FE8E75C28}"/>
              </a:ext>
            </a:extLst>
          </p:cNvPr>
          <p:cNvSpPr/>
          <p:nvPr/>
        </p:nvSpPr>
        <p:spPr>
          <a:xfrm>
            <a:off x="49834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8E50D268-F737-CDD9-78EB-628EB9F13598}"/>
              </a:ext>
            </a:extLst>
          </p:cNvPr>
          <p:cNvSpPr/>
          <p:nvPr/>
        </p:nvSpPr>
        <p:spPr>
          <a:xfrm>
            <a:off x="72694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9E7C925F-DC0B-3A3A-DD1B-90C7BAFF1FF9}"/>
              </a:ext>
            </a:extLst>
          </p:cNvPr>
          <p:cNvSpPr/>
          <p:nvPr/>
        </p:nvSpPr>
        <p:spPr>
          <a:xfrm>
            <a:off x="95554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 gratis. Le agenzie pagano per scalare.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per inquilini e locatori. Subscription per le agenzie immobiliari.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566160" cy="310896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servizi premium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verificato gratis. Acquisition engine.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Profilo AI gratuito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categoriale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PRO: profilazione prioritaria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PRO: maggiore visibilità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971800"/>
            <a:ext cx="3566160" cy="310896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091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servizi premium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annunci gratis. Cresci a domanda.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Annunci e candidati gratis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Filtri di base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PRO: più foto e media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PRO: maggiore visibilità annuncio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971800"/>
            <a:ext cx="3566160" cy="3108960"/>
          </a:xfrm>
          <a:prstGeom prst="roundRect">
            <a:avLst>
              <a:gd name="adj" fmla="val 5882"/>
            </a:avLst>
          </a:prstGeom>
          <a:solidFill>
            <a:srgbClr val="7C3AED"/>
          </a:solidFill>
          <a:ln w="25400">
            <a:solidFill>
              <a:srgbClr val="FBBF24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9372600" y="280720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372600" y="2807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€ 99-499</a:t>
            </a:r>
            <a:r>
              <a:rPr lang="en-US" sz="12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0392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B2B. Profilazione clienti, lead per area, annunci.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565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Profilazione clienti AI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Contatti qualificati per zona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Pubblicazione annunci illimitata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Multi-operatore + API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CRM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marketplace,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18373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privato resta gratis per costruire massa critica. Le agenzie pagano: è là che vive il revenue.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CRM di tutte le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 NOI VINCEREMO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 vs AffittoChiaro.it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problema. Approcci opposti.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 w="25400">
            <a:solidFill>
              <a:srgbClr val="7C3AED"/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privacy-first, scoring spiegabile.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4290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 italiano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36576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conversazionale 18-step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41605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parsing semantico automatico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480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4348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HIGH/MED/LOW spiegabile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46634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indicatore tracciabile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983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377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AI Act by 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 AES-256, dati minimizzati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486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4406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doppio locatore&lt;-&gt;inquilino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34440" y="56692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scelgono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62940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AFFITTOCHIARO.IT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2926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statici, no AI, privacy non garantita.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4290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online generici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03720" y="36576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agente conversazionale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3977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9319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solo manuale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03720" y="41605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carica, l'umano controlla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4480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4348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opaco o assente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03720" y="46634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criterio pubblicato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4983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49377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non garantita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03720" y="51663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dichiarazione AI Act, GDPR limitato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5486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54406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dal lato locatore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03720" y="56692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L'inquilino subisce la richiesta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E4178-0F8A-D61B-1EF5-ECC4E905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D2B067-4BB4-BF9F-6455-0B55B7272DDA}"/>
              </a:ext>
            </a:extLst>
          </p:cNvPr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 NOI VINCEREMO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09E7FF-40AD-1FC5-58B0-AF863A8917FF}"/>
              </a:ext>
            </a:extLst>
          </p:cNvPr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 vs AffittoChiaro.it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A46EFE-54CA-F63F-E16C-1276E8380FE0}"/>
              </a:ext>
            </a:extLst>
          </p:cNvPr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problema. Approcci opposti.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855C27-482F-672E-7781-C155B1A75051}"/>
              </a:ext>
            </a:extLst>
          </p:cNvPr>
          <p:cNvSpPr/>
          <p:nvPr/>
        </p:nvSpPr>
        <p:spPr>
          <a:xfrm>
            <a:off x="640080" y="24688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 w="25400">
            <a:solidFill>
              <a:srgbClr val="7C3AED"/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8D0657-7B6D-3E1B-0734-652637F8B8CB}"/>
              </a:ext>
            </a:extLst>
          </p:cNvPr>
          <p:cNvSpPr/>
          <p:nvPr/>
        </p:nvSpPr>
        <p:spPr>
          <a:xfrm>
            <a:off x="96012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C2B0A23-61C3-1E39-E2DB-93773964E50C}"/>
              </a:ext>
            </a:extLst>
          </p:cNvPr>
          <p:cNvSpPr/>
          <p:nvPr/>
        </p:nvSpPr>
        <p:spPr>
          <a:xfrm>
            <a:off x="6309360" y="24688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A78AEBD-4EF2-989E-82BC-D531407509A7}"/>
              </a:ext>
            </a:extLst>
          </p:cNvPr>
          <p:cNvSpPr/>
          <p:nvPr/>
        </p:nvSpPr>
        <p:spPr>
          <a:xfrm>
            <a:off x="662940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AFFITTOCHIARO.IT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1D215F0-8330-ADFF-0462-C822DDD40E73}"/>
              </a:ext>
            </a:extLst>
          </p:cNvPr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F9B40C6-BAAA-BAD9-2D5F-65A0A191F1A7}"/>
              </a:ext>
            </a:extLst>
          </p:cNvPr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44" name="Immagine 43">
            <a:extLst>
              <a:ext uri="{FF2B5EF4-FFF2-40B4-BE49-F238E27FC236}">
                <a16:creationId xmlns:a16="http://schemas.microsoft.com/office/drawing/2014/main" id="{2A2BDF92-E1E8-8645-9261-8C0E39C3E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380" y="3024416"/>
            <a:ext cx="3835764" cy="1715110"/>
          </a:xfrm>
          <a:prstGeom prst="rect">
            <a:avLst/>
          </a:prstGeom>
        </p:spPr>
      </p:pic>
      <p:pic>
        <p:nvPicPr>
          <p:cNvPr id="46" name="Immagine 45">
            <a:extLst>
              <a:ext uri="{FF2B5EF4-FFF2-40B4-BE49-F238E27FC236}">
                <a16:creationId xmlns:a16="http://schemas.microsoft.com/office/drawing/2014/main" id="{EEBCC9C1-EED8-FB23-D587-9BAE98EA2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213136"/>
            <a:ext cx="3596640" cy="1596750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A39F1332-1B97-B796-40D9-05A14B6F0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062" y="2994660"/>
            <a:ext cx="299829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7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143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</a:t>
            </a: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di fiducia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real estate in Europa.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566160" cy="2697480"/>
          </a:xfrm>
          <a:prstGeom prst="roundRect">
            <a:avLst>
              <a:gd name="adj" fmla="val 678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- Affitti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Tenant scoring AI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Marketplace match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 dedicata agenzie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3611880"/>
            <a:ext cx="3566160" cy="2697480"/>
          </a:xfrm>
          <a:prstGeom prst="roundRect">
            <a:avLst>
              <a:gd name="adj" fmla="val 678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709160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709160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API verifica B2B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Consulenza</a:t>
            </a: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</a:t>
            </a: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CRM, Marketplace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Servizi innovative per le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566160" cy="2697480"/>
          </a:xfrm>
          <a:prstGeom prst="roundRect">
            <a:avLst>
              <a:gd name="adj" fmla="val 678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503920" y="3886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503920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Insurance partnerships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Servizi di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profilazione</a:t>
            </a: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bancaria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Servizi di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profilazione</a:t>
            </a:r>
            <a:r>
              <a:rPr lang="en-US" sz="1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assicurativa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Cerchiamo </a:t>
            </a: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€ 50-100K</a:t>
            </a: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cash o servizi.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per validare l'idea, affinare l'MVP e costruire un brand forte.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72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l'idea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research, beta locatori in zona pilota.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26974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434840" y="2697480"/>
            <a:ext cx="10972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Affinare l'MVP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funzionalità core + verifica AI.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visibilità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 verbale-visuale, content, PR.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65760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434840" y="365760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09160" y="3657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Aggressione target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mirata in 5 città italiane.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2697480"/>
            <a:ext cx="3429000" cy="1828800"/>
          </a:xfrm>
          <a:prstGeom prst="roundRect">
            <a:avLst>
              <a:gd name="adj" fmla="val 580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4124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 A SCAMBIO IN SERVIZI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042285"/>
            <a:ext cx="3108960" cy="340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cash.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3411855"/>
            <a:ext cx="31089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Pubblicità &amp; media planning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 player real estate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accesso al network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della visione di prodotto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mesi di runway leggero. Obiettivo: 1.000 profili verificati e 3 agenzie clienti in città pilota.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InquilinoFacile.it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Grazie.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564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 dirty="0" err="1">
                <a:solidFill>
                  <a:srgbClr val="34D399"/>
                </a:solidFill>
                <a:latin typeface="Calibri"/>
              </a:rPr>
              <a:t>Affittare</a:t>
            </a:r>
            <a:r>
              <a:rPr sz="1800" b="1" i="0" dirty="0">
                <a:solidFill>
                  <a:srgbClr val="34D399"/>
                </a:solidFill>
                <a:latin typeface="Calibri"/>
              </a:rPr>
              <a:t> in Italia non </a:t>
            </a:r>
            <a:r>
              <a:rPr sz="1800" b="1" i="0" dirty="0" err="1">
                <a:solidFill>
                  <a:srgbClr val="34D399"/>
                </a:solidFill>
                <a:latin typeface="Calibri"/>
              </a:rPr>
              <a:t>sarà</a:t>
            </a:r>
            <a:r>
              <a:rPr sz="1800" b="1" i="0" dirty="0">
                <a:solidFill>
                  <a:srgbClr val="34D399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34D399"/>
                </a:solidFill>
                <a:latin typeface="Calibri"/>
              </a:rPr>
              <a:t>mai</a:t>
            </a:r>
            <a:r>
              <a:rPr sz="1800" b="1" i="0" dirty="0">
                <a:solidFill>
                  <a:srgbClr val="34D399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34D399"/>
                </a:solidFill>
                <a:latin typeface="Calibri"/>
              </a:rPr>
              <a:t>più</a:t>
            </a:r>
            <a:r>
              <a:rPr sz="1800" b="1" i="0" dirty="0">
                <a:solidFill>
                  <a:srgbClr val="34D399"/>
                </a:solidFill>
                <a:latin typeface="Calibri"/>
              </a:rPr>
              <a:t> un </a:t>
            </a:r>
            <a:r>
              <a:rPr sz="1800" b="1" i="0" dirty="0" err="1">
                <a:solidFill>
                  <a:srgbClr val="34D399"/>
                </a:solidFill>
                <a:latin typeface="Calibri"/>
              </a:rPr>
              <a:t>terno</a:t>
            </a:r>
            <a:r>
              <a:rPr sz="1800" b="1" i="0" dirty="0">
                <a:solidFill>
                  <a:srgbClr val="34D399"/>
                </a:solidFill>
                <a:latin typeface="Calibri"/>
              </a:rPr>
              <a:t> al lotto.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61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FBBF24"/>
                </a:solidFill>
                <a:latin typeface="Calibri"/>
              </a:rPr>
              <a:t>IL TEAM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550920"/>
            <a:ext cx="1088136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0867" y="3834201"/>
            <a:ext cx="3520440" cy="1850672"/>
          </a:xfrm>
          <a:prstGeom prst="roundRect">
            <a:avLst/>
          </a:prstGeom>
          <a:solidFill>
            <a:srgbClr val="0B143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0867" y="3834202"/>
            <a:ext cx="3520440" cy="1829364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8175" y="4154805"/>
            <a:ext cx="1325880" cy="13258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34565" y="4291964"/>
            <a:ext cx="172752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  <a:latin typeface="Calibri"/>
              </a:rPr>
              <a:t>Davide Noviello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4565" y="5191083"/>
            <a:ext cx="152745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 dirty="0">
                <a:solidFill>
                  <a:srgbClr val="60A5FA"/>
                </a:solidFill>
                <a:latin typeface="Calibri"/>
              </a:rPr>
              <a:t>CTO · </a:t>
            </a:r>
            <a:r>
              <a:rPr lang="it-IT" sz="1000" i="1" dirty="0">
                <a:solidFill>
                  <a:srgbClr val="60A5FA"/>
                </a:solidFill>
                <a:latin typeface="Calibri"/>
              </a:rPr>
              <a:t>Creatore</a:t>
            </a:r>
            <a:endParaRPr sz="1000" b="0" i="1" dirty="0">
              <a:solidFill>
                <a:srgbClr val="60A5FA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35627" y="3834201"/>
            <a:ext cx="3520440" cy="1850672"/>
          </a:xfrm>
          <a:prstGeom prst="roundRect">
            <a:avLst/>
          </a:prstGeom>
          <a:solidFill>
            <a:srgbClr val="0B143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35627" y="3834765"/>
            <a:ext cx="3520440" cy="18288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21505" y="4154805"/>
            <a:ext cx="1325880" cy="13258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24578" y="4289707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Angelo Rubino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2784" y="5162489"/>
            <a:ext cx="13258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000" b="0" i="1" dirty="0">
                <a:solidFill>
                  <a:srgbClr val="34D399"/>
                </a:solidFill>
                <a:latin typeface="Calibri"/>
              </a:rPr>
              <a:t>CEO</a:t>
            </a:r>
            <a:r>
              <a:rPr lang="it-IT" sz="1000" i="1" dirty="0">
                <a:solidFill>
                  <a:srgbClr val="60A5FA"/>
                </a:solidFill>
              </a:rPr>
              <a:t> · </a:t>
            </a:r>
            <a:r>
              <a:rPr sz="1000" b="0" i="1" dirty="0">
                <a:solidFill>
                  <a:srgbClr val="34D399"/>
                </a:solidFill>
                <a:latin typeface="Calibri"/>
              </a:rPr>
              <a:t>Co-</a:t>
            </a:r>
            <a:r>
              <a:rPr sz="1000" b="0" i="1" dirty="0" err="1">
                <a:solidFill>
                  <a:srgbClr val="34D399"/>
                </a:solidFill>
                <a:latin typeface="Calibri"/>
              </a:rPr>
              <a:t>ideatore</a:t>
            </a:r>
            <a:endParaRPr sz="1000" b="0" i="1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0387" y="3834765"/>
            <a:ext cx="3520440" cy="1828798"/>
          </a:xfrm>
          <a:prstGeom prst="roundRect">
            <a:avLst/>
          </a:prstGeom>
          <a:solidFill>
            <a:srgbClr val="0B143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0387" y="3834765"/>
            <a:ext cx="3520440" cy="1828798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600" y="4136855"/>
            <a:ext cx="1325880" cy="13258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1378" y="4267999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  <a:latin typeface="Calibri"/>
              </a:rPr>
              <a:t>Giuseppe Mangini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1378" y="5160645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000" b="0" i="1" dirty="0">
                <a:solidFill>
                  <a:srgbClr val="A78BFA"/>
                </a:solidFill>
                <a:latin typeface="Calibri"/>
              </a:rPr>
              <a:t>PO </a:t>
            </a:r>
            <a:endParaRPr sz="1000" b="0" i="1" dirty="0">
              <a:solidFill>
                <a:srgbClr val="A78BF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25213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 dirty="0">
                <a:solidFill>
                  <a:srgbClr val="C7D2FE"/>
                </a:solidFill>
                <a:latin typeface="Calibri"/>
              </a:rPr>
              <a:t>inquilinofacile.it  ·  info@inquilinofacile.it  ·  Maggio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InquilinoFacile.it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 / 12</a:t>
            </a:r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AE9D71AE-2BC0-0745-A8AB-9A5EAED0B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4160520"/>
            <a:ext cx="1325880" cy="1325880"/>
          </a:xfrm>
          <a:prstGeom prst="ellipse">
            <a:avLst/>
          </a:prstGeom>
          <a:ln w="19050" cap="rnd">
            <a:solidFill>
              <a:srgbClr val="60A5FA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20CCB39A-2CB3-2642-9EE3-272BDBF5A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28" y="4145191"/>
            <a:ext cx="1324800" cy="1324800"/>
          </a:xfrm>
          <a:prstGeom prst="ellipse">
            <a:avLst/>
          </a:prstGeom>
          <a:ln w="12700" cap="rnd">
            <a:solidFill>
              <a:srgbClr val="A78BFA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1" name="TextBox 13">
            <a:extLst>
              <a:ext uri="{FF2B5EF4-FFF2-40B4-BE49-F238E27FC236}">
                <a16:creationId xmlns:a16="http://schemas.microsoft.com/office/drawing/2014/main" id="{C1ECEBA8-AAC4-82EC-E892-B11C958BACC1}"/>
              </a:ext>
            </a:extLst>
          </p:cNvPr>
          <p:cNvSpPr txBox="1"/>
          <p:nvPr/>
        </p:nvSpPr>
        <p:spPr>
          <a:xfrm>
            <a:off x="2234565" y="4672383"/>
            <a:ext cx="152745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000" b="0" i="1" dirty="0">
                <a:solidFill>
                  <a:schemeClr val="bg1"/>
                </a:solidFill>
                <a:latin typeface="Calibri"/>
              </a:rPr>
              <a:t>Ingegnere informatico e dell’Automazione</a:t>
            </a:r>
            <a:endParaRPr sz="1000" b="0" i="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4B6A4C47-C8E6-DEB7-F90A-D178FCC2E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157" y="4161600"/>
            <a:ext cx="1324800" cy="1324800"/>
          </a:xfrm>
          <a:prstGeom prst="ellipse">
            <a:avLst/>
          </a:prstGeom>
          <a:ln w="19050" cap="rnd">
            <a:solidFill>
              <a:srgbClr val="34D399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4" name="TextBox 13">
            <a:extLst>
              <a:ext uri="{FF2B5EF4-FFF2-40B4-BE49-F238E27FC236}">
                <a16:creationId xmlns:a16="http://schemas.microsoft.com/office/drawing/2014/main" id="{36FBC0FF-F3CA-2D90-9599-A15E1A95206C}"/>
              </a:ext>
            </a:extLst>
          </p:cNvPr>
          <p:cNvSpPr txBox="1"/>
          <p:nvPr/>
        </p:nvSpPr>
        <p:spPr>
          <a:xfrm>
            <a:off x="5962784" y="4701184"/>
            <a:ext cx="152745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000" b="0" i="1" dirty="0">
                <a:solidFill>
                  <a:schemeClr val="bg1"/>
                </a:solidFill>
                <a:latin typeface="Calibri"/>
              </a:rPr>
              <a:t>Dottore commercialista</a:t>
            </a:r>
            <a:endParaRPr sz="1000" b="0" i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BBC5739C-C0CF-8DB2-0B64-A76B7C642D1F}"/>
              </a:ext>
            </a:extLst>
          </p:cNvPr>
          <p:cNvSpPr txBox="1"/>
          <p:nvPr/>
        </p:nvSpPr>
        <p:spPr>
          <a:xfrm>
            <a:off x="9721378" y="4666464"/>
            <a:ext cx="152745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000" b="0" i="1" dirty="0">
                <a:solidFill>
                  <a:schemeClr val="bg1"/>
                </a:solidFill>
                <a:latin typeface="Calibri"/>
              </a:rPr>
              <a:t>Consulente immobiliare</a:t>
            </a:r>
            <a:endParaRPr sz="1000" b="0" i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1846</Words>
  <Application>Microsoft Office PowerPoint</Application>
  <PresentationFormat>Widescreen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InquilinoFacile.it - Nova Ventures Pitch</dc:title>
  <dc:subject>PptxGenJS Presentation</dc:subject>
  <dc:creator>InquilinoFacile.it</dc:creator>
  <cp:lastModifiedBy>Davide Noviello</cp:lastModifiedBy>
  <cp:revision>8</cp:revision>
  <dcterms:created xsi:type="dcterms:W3CDTF">2026-05-09T18:24:25Z</dcterms:created>
  <dcterms:modified xsi:type="dcterms:W3CDTF">2026-05-11T12:09:55Z</dcterms:modified>
</cp:coreProperties>
</file>